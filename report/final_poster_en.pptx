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Acoustic–Vision Collaborative Monitoring of the Fairy Pitta (Pitta nympha) on PYNQ-Z2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14300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DEEAF6"/>
                </a:solidFill>
                <a:latin typeface="Calibri"/>
              </a:rPr>
              <a:t>AMD FPGA Design Contest 2026 · Autonomous Topic, Junior Group · Platform: AMD PYNQ-Z2 (Zynq-7020 XC7Z020)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6692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Problem &amp;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5669280" cy="1143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Calibri"/>
              </a:rPr>
              <a:t>The Fairy Pitta is a nationally protected bird (IUCN Vulnerable) but nearly impossible to monitor by human patrol. Our unattended edge system lets the bird call wake the camera: no cameras running empty, no endless video storage.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606040"/>
            <a:ext cx="5669280" cy="502920"/>
          </a:xfrm>
          <a:prstGeom prst="rect">
            <a:avLst/>
          </a:prstGeom>
          <a:solidFill>
            <a:srgbClr val="DEEAF6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624328"/>
            <a:ext cx="5486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Calibri"/>
              </a:rPr>
              <a:t>INMP441 MEMS mic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71216"/>
            <a:ext cx="548640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I2S RX core + AXI DMA in PL · 32 kHz/24-bit, zero CPU 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3118104"/>
            <a:ext cx="73152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00" b="1">
                <a:solidFill>
                  <a:srgbClr val="2E75B6"/>
                </a:solidFill>
                <a:latin typeface="Calibri"/>
              </a:rPr>
              <a:t>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64408"/>
            <a:ext cx="5669280" cy="502920"/>
          </a:xfrm>
          <a:prstGeom prst="rect">
            <a:avLst/>
          </a:prstGeom>
          <a:solidFill>
            <a:srgbClr val="DEEAF6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82696"/>
            <a:ext cx="5486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Calibri"/>
              </a:rPr>
              <a:t>On-board CNN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29584"/>
            <a:ext cx="548640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2-s mel window → 3-layer CNN · call score ≥ 0.985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776472"/>
            <a:ext cx="73152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00" b="1">
                <a:solidFill>
                  <a:srgbClr val="2E75B6"/>
                </a:solidFill>
                <a:latin typeface="Calibri"/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922776"/>
            <a:ext cx="5669280" cy="502920"/>
          </a:xfrm>
          <a:prstGeom prst="rect">
            <a:avLst/>
          </a:prstGeom>
          <a:solidFill>
            <a:srgbClr val="DEEAF6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941063"/>
            <a:ext cx="5486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Calibri"/>
              </a:rPr>
              <a:t>Trigger 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87952"/>
            <a:ext cx="548640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sound event unlocks the camera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434840"/>
            <a:ext cx="73152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00" b="1">
                <a:solidFill>
                  <a:srgbClr val="2E75B6"/>
                </a:solidFill>
                <a:latin typeface="Calibri"/>
              </a:rP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581144"/>
            <a:ext cx="5669280" cy="502920"/>
          </a:xfrm>
          <a:prstGeom prst="rect">
            <a:avLst/>
          </a:prstGeom>
          <a:solidFill>
            <a:srgbClr val="DEEAF6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599431"/>
            <a:ext cx="5486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Calibri"/>
              </a:rPr>
              <a:t>YOLOv8n (ncnn)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46320"/>
            <a:ext cx="548640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640×480 @5 fps · conf ≥ 0.52 locks the bird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5093208"/>
            <a:ext cx="731520" cy="16459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00" b="1">
                <a:solidFill>
                  <a:srgbClr val="2E75B6"/>
                </a:solidFill>
                <a:latin typeface="Calibri"/>
              </a:rPr>
              <a:t>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239512"/>
            <a:ext cx="5669280" cy="502920"/>
          </a:xfrm>
          <a:prstGeom prst="rect">
            <a:avLst/>
          </a:prstGeom>
          <a:solidFill>
            <a:srgbClr val="DEEAF6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257799"/>
            <a:ext cx="54864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Calibri"/>
              </a:rPr>
              <a:t>Presence recording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504688"/>
            <a:ext cx="548640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records while bird present · delayed stop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1097280"/>
            <a:ext cx="5486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Measured Results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1463040"/>
            <a:ext cx="5486400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1481328"/>
            <a:ext cx="237744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1481328"/>
            <a:ext cx="146304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Value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95560" y="1481328"/>
            <a:ext cx="16002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1773936"/>
            <a:ext cx="5486400" cy="475488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1801368"/>
            <a:ext cx="228600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Calibri"/>
              </a:rPr>
              <a:t>Audio event-level recall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1801368"/>
            <a:ext cx="150876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Calibri"/>
              </a:rPr>
              <a:t>97.4% @0.985 / 98.1% @0.5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95560" y="1801368"/>
            <a:ext cx="160020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Calibri"/>
              </a:rPr>
              <a:t>155 human-checked events, 9 songs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2267712"/>
            <a:ext cx="54864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2295144"/>
            <a:ext cx="228600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Calibri"/>
              </a:rPr>
              <a:t>Image mAP@0.5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2295144"/>
            <a:ext cx="150876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Calibri"/>
              </a:rPr>
              <a:t>86.7%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95560" y="2295144"/>
            <a:ext cx="160020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Calibri"/>
              </a:rPr>
              <a:t>training-pool protocol (honest caveat reported)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5080" y="2761488"/>
            <a:ext cx="5486400" cy="475488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19088" y="2788920"/>
            <a:ext cx="228600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Calibri"/>
              </a:rPr>
              <a:t>False alarms on 380 negatives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2788920"/>
            <a:ext cx="150876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Calibri"/>
              </a:rPr>
              <a:t>0 / 380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95560" y="2788920"/>
            <a:ext cx="160020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Calibri"/>
              </a:rPr>
              <a:t>highest score 0.0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55080" y="3255264"/>
            <a:ext cx="54864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19088" y="3282696"/>
            <a:ext cx="228600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Calibri"/>
              </a:rPr>
              <a:t>End-to-end trigger latency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3282696"/>
            <a:ext cx="150876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Calibri"/>
              </a:rPr>
              <a:t>≈10.5 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95560" y="3282696"/>
            <a:ext cx="160020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Calibri"/>
              </a:rPr>
              <a:t>call → recording starts, on-board log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55080" y="3749040"/>
            <a:ext cx="5486400" cy="475488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19088" y="3776472"/>
            <a:ext cx="228600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Calibri"/>
              </a:rPr>
              <a:t>Audio inference (one window)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3776472"/>
            <a:ext cx="150876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Calibri"/>
              </a:rPr>
              <a:t>2.075 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95560" y="3776472"/>
            <a:ext cx="160020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Calibri"/>
              </a:rPr>
              <a:t>STFT/mel/conv/numpy on ARM A9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55080" y="4242816"/>
            <a:ext cx="54864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19088" y="4270248"/>
            <a:ext cx="228600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Calibri"/>
              </a:rPr>
              <a:t>FPGA resource usage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4270248"/>
            <a:ext cx="150876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Calibri"/>
              </a:rPr>
              <a:t>LUT 3.15% · WNS +2.03 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95560" y="4270248"/>
            <a:ext cx="160020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Calibri"/>
              </a:rPr>
              <a:t>audio overlay; 100 MHz FCLK0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55080" y="4736592"/>
            <a:ext cx="5486400" cy="475488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19088" y="4764024"/>
            <a:ext cx="228600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Calibri"/>
              </a:rPr>
              <a:t>conv1 HLS GEMM kernel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0" y="4764024"/>
            <a:ext cx="150876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Calibri"/>
              </a:rPr>
              <a:t>6.7 ms · max err 0.00184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95560" y="4764024"/>
            <a:ext cx="160020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Calibri"/>
              </a:rPr>
              <a:t>vs float, 205,824 points, 0/20,584 over tolerance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5897880"/>
            <a:ext cx="11475720" cy="731520"/>
          </a:xfrm>
          <a:prstGeom prst="rect">
            <a:avLst/>
          </a:prstGeom>
          <a:solidFill>
            <a:srgbClr val="DEEAF6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" y="5943600"/>
            <a:ext cx="1124712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1F4E79"/>
                </a:solidFill>
                <a:latin typeface="Calibri"/>
              </a:rPr>
              <a:t>Reusable PYNQ skill package (decoupled from this project): 6 verified tools — .hwh register probe, block-design linter, DMA self-test, Vivado report parser, golden-result comparator, pack verifier — plus 3 templates and a 19-item pitfall list. MIT open-source, fully reproducible build scripts.  Team / advisor: [to be filled after AMD template].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