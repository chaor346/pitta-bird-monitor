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"/>
  </p:sldMasterIdLst>
  <p:notesMasterIdLst>
    <p:notesMasterId r:id="rId8"/>
  </p:notesMasterIdLst>
  <p:handoutMasterIdLst>
    <p:handoutMasterId r:id="rId9"/>
  </p:handoutMasterIdLst>
  <p:sldIdLst>
    <p:sldId id="285" r:id="rId7"/>
    <p:sldId id="286" r:id="rId17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7C97"/>
    <a:srgbClr val="00A8D0"/>
    <a:srgbClr val="FFFF99"/>
    <a:srgbClr val="0CBEA9"/>
    <a:srgbClr val="EFE125"/>
    <a:srgbClr val="000000"/>
    <a:srgbClr val="262626"/>
    <a:srgbClr val="131313"/>
    <a:srgbClr val="2424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C4D71A-E7F1-4ECD-BF23-D288866E6459}" v="49" dt="2026-10-28T10:01:34.1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84" autoAdjust="0"/>
    <p:restoredTop sz="97843" autoAdjust="0"/>
  </p:normalViewPr>
  <p:slideViewPr>
    <p:cSldViewPr snapToGrid="0">
      <p:cViewPr varScale="1">
        <p:scale>
          <a:sx n="159" d="100"/>
          <a:sy n="159" d="100"/>
        </p:scale>
        <p:origin x="546" y="138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en, Wen (Vicky)" userId="370386ac-7ced-43cd-aa57-a504dc959918" providerId="ADAL" clId="{A08629F2-BAFE-486D-9E84-BFC0507FDA27}"/>
    <pc:docChg chg="custSel addSld delSld modSld">
      <pc:chgData name="Chen, Wen (Vicky)" userId="370386ac-7ced-43cd-aa57-a504dc959918" providerId="ADAL" clId="{A08629F2-BAFE-486D-9E84-BFC0507FDA27}" dt="2026-10-28T10:03:37.600" v="110" actId="1076"/>
      <pc:docMkLst>
        <pc:docMk/>
      </pc:docMkLst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641800033" sldId="260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894785852" sldId="262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810320210" sldId="26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96110502" sldId="26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295795922" sldId="26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60339626" sldId="26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509904829" sldId="26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563127261" sldId="26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14710708" sldId="26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3142657" sldId="27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07857248" sldId="27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041338495" sldId="27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338091283" sldId="27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468783600" sldId="27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528543421" sldId="27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54485583" sldId="27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25260525" sldId="27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21606204" sldId="27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767730382" sldId="27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12664564" sldId="28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899082442" sldId="28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36621986" sldId="28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897248901" sldId="283"/>
        </pc:sldMkLst>
      </pc:sldChg>
      <pc:sldChg chg="del">
        <pc:chgData name="Chen, Wen (Vicky)" userId="370386ac-7ced-43cd-aa57-a504dc959918" providerId="ADAL" clId="{A08629F2-BAFE-486D-9E84-BFC0507FDA27}" dt="2026-10-28T10:01:10.378" v="9" actId="47"/>
        <pc:sldMkLst>
          <pc:docMk/>
          <pc:sldMk cId="2859063927" sldId="284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488671642" sldId="285"/>
        </pc:sldMkLst>
      </pc:sldChg>
      <pc:sldChg chg="addSp delSp modSp new mod modClrScheme chgLayout">
        <pc:chgData name="Chen, Wen (Vicky)" userId="370386ac-7ced-43cd-aa57-a504dc959918" providerId="ADAL" clId="{A08629F2-BAFE-486D-9E84-BFC0507FDA27}" dt="2026-10-28T10:03:37.600" v="110" actId="1076"/>
        <pc:sldMkLst>
          <pc:docMk/>
          <pc:sldMk cId="1777069741" sldId="285"/>
        </pc:sldMkLst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2" creationId="{657F82AD-C5B8-4968-DECD-AB43F5DCAECC}"/>
          </ac:spMkLst>
        </pc:spChg>
        <pc:spChg chg="del mod ord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3" creationId="{A1C2D21D-1646-9566-3081-429676337E32}"/>
          </ac:spMkLst>
        </pc:spChg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4" creationId="{227DFDB3-5F3F-7736-8267-95B8BADCB680}"/>
          </ac:spMkLst>
        </pc:spChg>
        <pc:spChg chg="add del mod ord">
          <ac:chgData name="Chen, Wen (Vicky)" userId="370386ac-7ced-43cd-aa57-a504dc959918" providerId="ADAL" clId="{A08629F2-BAFE-486D-9E84-BFC0507FDA27}" dt="2026-10-28T09:54:36.182" v="4" actId="700"/>
          <ac:spMkLst>
            <pc:docMk/>
            <pc:sldMk cId="1777069741" sldId="285"/>
            <ac:spMk id="5" creationId="{B63F92C7-CA2C-08EE-88CB-096614340C3F}"/>
          </ac:spMkLst>
        </pc:spChg>
        <pc:spChg chg="add del mod">
          <ac:chgData name="Chen, Wen (Vicky)" userId="370386ac-7ced-43cd-aa57-a504dc959918" providerId="ADAL" clId="{A08629F2-BAFE-486D-9E84-BFC0507FDA27}" dt="2026-10-28T10:01:04.629" v="7" actId="478"/>
          <ac:spMkLst>
            <pc:docMk/>
            <pc:sldMk cId="1777069741" sldId="285"/>
            <ac:spMk id="6" creationId="{DC789B0E-9151-EBB3-9C9A-7D921624BCB2}"/>
          </ac:spMkLst>
        </pc:spChg>
        <pc:spChg chg="mod">
          <ac:chgData name="Chen, Wen (Vicky)" userId="370386ac-7ced-43cd-aa57-a504dc959918" providerId="ADAL" clId="{A08629F2-BAFE-486D-9E84-BFC0507FDA27}" dt="2026-10-28T10:02:52.947" v="35" actId="14100"/>
          <ac:spMkLst>
            <pc:docMk/>
            <pc:sldMk cId="1777069741" sldId="285"/>
            <ac:spMk id="7" creationId="{FE9E712C-8D01-093E-F260-B456F83385A5}"/>
          </ac:spMkLst>
        </pc:spChg>
        <pc:spChg chg="mod">
          <ac:chgData name="Chen, Wen (Vicky)" userId="370386ac-7ced-43cd-aa57-a504dc959918" providerId="ADAL" clId="{A08629F2-BAFE-486D-9E84-BFC0507FDA27}" dt="2026-10-28T10:02:12.729" v="29" actId="948"/>
          <ac:spMkLst>
            <pc:docMk/>
            <pc:sldMk cId="1777069741" sldId="285"/>
            <ac:spMk id="8" creationId="{7C995DB8-75D8-49DC-0386-88FDA751971A}"/>
          </ac:spMkLst>
        </pc:spChg>
        <pc:spChg chg="add mod">
          <ac:chgData name="Chen, Wen (Vicky)" userId="370386ac-7ced-43cd-aa57-a504dc959918" providerId="ADAL" clId="{A08629F2-BAFE-486D-9E84-BFC0507FDA27}" dt="2026-10-28T10:03:37.600" v="110" actId="1076"/>
          <ac:spMkLst>
            <pc:docMk/>
            <pc:sldMk cId="1777069741" sldId="285"/>
            <ac:spMk id="9" creationId="{455E59B8-9F4D-053C-0F8B-5ED9412D6AB0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17" creationId="{0DEFB17D-6681-9646-6AEB-AA8BC90223D4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3" creationId="{485C4FA3-129B-F950-2BCA-DCE18597BC8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5" creationId="{77966AF8-61F6-A290-A297-72FBA829E9F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0" creationId="{3AD9C1E2-56A2-91FD-2214-C3508F5F5345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4" creationId="{35818903-E8A5-070B-B626-2835FFF26BE2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7" creationId="{6901D43C-2CF0-2C54-2E0B-69ABAC43B76A}"/>
          </ac:spMkLst>
        </pc:spChg>
        <pc:spChg chg="add mod">
          <ac:chgData name="Chen, Wen (Vicky)" userId="370386ac-7ced-43cd-aa57-a504dc959918" providerId="ADAL" clId="{A08629F2-BAFE-486D-9E84-BFC0507FDA27}" dt="2026-10-28T10:02:48.219" v="34" actId="1076"/>
          <ac:spMkLst>
            <pc:docMk/>
            <pc:sldMk cId="1777069741" sldId="285"/>
            <ac:spMk id="41" creationId="{7208B36C-4D3C-053B-772C-E9455269F56C}"/>
          </ac:spMkLst>
        </pc:spChg>
        <pc:spChg chg="add mod">
          <ac:chgData name="Chen, Wen (Vicky)" userId="370386ac-7ced-43cd-aa57-a504dc959918" providerId="ADAL" clId="{A08629F2-BAFE-486D-9E84-BFC0507FDA27}" dt="2026-10-28T10:03:33.858" v="109" actId="14100"/>
          <ac:spMkLst>
            <pc:docMk/>
            <pc:sldMk cId="1777069741" sldId="285"/>
            <ac:spMk id="54" creationId="{58960BED-4C88-4AA4-8F7B-F67A2FC46A15}"/>
          </ac:spMkLst>
        </pc:spChg>
        <pc:spChg chg="add mod">
          <ac:chgData name="Chen, Wen (Vicky)" userId="370386ac-7ced-43cd-aa57-a504dc959918" providerId="ADAL" clId="{A08629F2-BAFE-486D-9E84-BFC0507FDA27}" dt="2026-10-28T10:03:24.112" v="85" actId="20577"/>
          <ac:spMkLst>
            <pc:docMk/>
            <pc:sldMk cId="1777069741" sldId="285"/>
            <ac:spMk id="56" creationId="{6B37ED8F-95C2-063E-D72D-A64EF03CBD94}"/>
          </ac:spMkLst>
        </pc:spChg>
        <pc:cxnChg chg="mod">
          <ac:chgData name="Chen, Wen (Vicky)" userId="370386ac-7ced-43cd-aa57-a504dc959918" providerId="ADAL" clId="{A08629F2-BAFE-486D-9E84-BFC0507FDA27}" dt="2026-10-28T10:02:35.640" v="32" actId="14100"/>
          <ac:cxnSpMkLst>
            <pc:docMk/>
            <pc:sldMk cId="1777069741" sldId="285"/>
            <ac:cxnSpMk id="12" creationId="{C6959FA9-7E35-379E-77F4-1F6BBF5DF8D9}"/>
          </ac:cxnSpMkLst>
        </pc:cxnChg>
        <pc:cxnChg chg="mod">
          <ac:chgData name="Chen, Wen (Vicky)" userId="370386ac-7ced-43cd-aa57-a504dc959918" providerId="ADAL" clId="{A08629F2-BAFE-486D-9E84-BFC0507FDA27}" dt="2026-10-28T10:02:40.776" v="33" actId="14100"/>
          <ac:cxnSpMkLst>
            <pc:docMk/>
            <pc:sldMk cId="1777069741" sldId="285"/>
            <ac:cxnSpMk id="13" creationId="{933CCBA0-FAB3-2B8C-FF7C-6D01676E605B}"/>
          </ac:cxnSpMkLst>
        </pc:cxnChg>
        <pc:cxnChg chg="mod">
          <ac:chgData name="Chen, Wen (Vicky)" userId="370386ac-7ced-43cd-aa57-a504dc959918" providerId="ADAL" clId="{A08629F2-BAFE-486D-9E84-BFC0507FDA27}" dt="2026-10-28T10:02:31.137" v="31" actId="14100"/>
          <ac:cxnSpMkLst>
            <pc:docMk/>
            <pc:sldMk cId="1777069741" sldId="285"/>
            <ac:cxnSpMk id="14" creationId="{F1E00891-515C-956C-17FC-86789D545647}"/>
          </ac:cxnSpMkLst>
        </pc:cxnChg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702984821" sldId="286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5:54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5:51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199" y="3730752"/>
            <a:ext cx="9203375" cy="1285186"/>
          </a:xfrm>
          <a:noFill/>
        </p:spPr>
        <p:txBody>
          <a:bodyPr wrap="square" lIns="0" tIns="0" rIns="0" bIns="0" anchor="b" anchorCtr="0">
            <a:no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5416299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0B977-ED39-4A6F-B505-8559A07A7E8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1" y="2487337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3962403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EFFEA8-7820-4325-8EB6-9B49BA536D4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14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1" y="1432111"/>
            <a:ext cx="11018838" cy="4836927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435100"/>
            <a:ext cx="5211764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9" y="1435100"/>
            <a:ext cx="5219700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1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3182780"/>
            <a:ext cx="11018521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9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20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2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20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2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20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2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20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2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20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2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1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2" y="3535544"/>
            <a:ext cx="4162426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62021" indent="0">
              <a:buNone/>
              <a:defRPr/>
            </a:lvl4pPr>
            <a:lvl5pPr marL="855706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8" orient="horz" pos="2226" userDrawn="1">
          <p15:clr>
            <a:srgbClr val="5ACBF0"/>
          </p15:clr>
        </p15:guide>
        <p15:guide id="10" pos="3729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43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3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3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90" y="1043679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1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497686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927845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 userDrawn="1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6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 userDrawn="1">
          <p15:clr>
            <a:srgbClr val="5ACBF0"/>
          </p15:clr>
        </p15:guide>
        <p15:guide id="7" pos="3931" userDrawn="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4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2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2" y="2029782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2" y="2617284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8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8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6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8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6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3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40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3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40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7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7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22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2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2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6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822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1963" userDrawn="1">
          <p15:clr>
            <a:srgbClr val="5ACBF0"/>
          </p15:clr>
        </p15:guide>
        <p15:guide id="7" pos="2150" userDrawn="1">
          <p15:clr>
            <a:srgbClr val="5ACBF0"/>
          </p15:clr>
        </p15:guide>
        <p15:guide id="8" pos="3747" userDrawn="1">
          <p15:clr>
            <a:srgbClr val="5ACBF0"/>
          </p15:clr>
        </p15:guide>
        <p15:guide id="9" pos="3933" userDrawn="1">
          <p15:clr>
            <a:srgbClr val="5ACBF0"/>
          </p15:clr>
        </p15:guide>
        <p15:guide id="10" pos="5530" userDrawn="1">
          <p15:clr>
            <a:srgbClr val="5ACBF0"/>
          </p15:clr>
        </p15:guide>
        <p15:guide id="11" pos="5716" userDrawn="1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9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5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5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7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5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5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4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099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5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2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3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8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20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6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8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8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4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6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6" y="3895725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8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4" y="4126200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5" y="4824848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9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9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8" userDrawn="1">
          <p15:clr>
            <a:srgbClr val="5ACBF0"/>
          </p15:clr>
        </p15:guide>
        <p15:guide id="21" pos="5113" userDrawn="1">
          <p15:clr>
            <a:srgbClr val="5ACBF0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5" y="2131032"/>
            <a:ext cx="6961188" cy="3980641"/>
          </a:xfrm>
        </p:spPr>
        <p:txBody>
          <a:bodyPr>
            <a:normAutofit/>
          </a:bodyPr>
          <a:lstStyle>
            <a:lvl1pPr marL="320056" indent="-320056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11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4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1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 userDrawn="1">
          <p15:clr>
            <a:srgbClr val="5ACBF0"/>
          </p15:clr>
        </p15:guide>
        <p15:guide id="29" orient="horz" pos="1271" userDrawn="1">
          <p15:clr>
            <a:srgbClr val="5ACBF0"/>
          </p15:clr>
        </p15:guide>
        <p15:guide id="33" pos="2928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5" y="3211972"/>
            <a:ext cx="3182027" cy="430887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103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7" userDrawn="1">
          <p15:clr>
            <a:srgbClr val="5ACBF0"/>
          </p15:clr>
        </p15:guide>
        <p15:guide id="31" pos="3114" userDrawn="1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5805"/>
            <a:ext cx="60374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89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756302"/>
            <a:ext cx="60374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6F4CBF-3771-416F-BD4B-AF9C13A617ED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2978" y="3207401"/>
            <a:ext cx="2702419" cy="59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4" y="1436688"/>
            <a:ext cx="11018521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71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3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604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1050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4" y="1436692"/>
            <a:ext cx="11020426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11" indent="0">
              <a:buNone/>
              <a:defRPr sz="1100"/>
            </a:lvl2pPr>
            <a:lvl3pPr marL="457223" indent="0">
              <a:buNone/>
              <a:defRPr sz="1100"/>
            </a:lvl3pPr>
            <a:lvl4pPr marL="662021" indent="0">
              <a:buNone/>
              <a:defRPr sz="1100"/>
            </a:lvl4pPr>
            <a:lvl5pPr marL="855706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5CD1CF4-BF52-4A9A-864B-B7138A0D820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2" y="585791"/>
            <a:ext cx="1339351" cy="2926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B3EC8B-A541-4803-BD06-4CF36BCBC7AC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theme" Target="../theme/theme1.xml"/><Relationship Id="rId2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4" y="591794"/>
            <a:ext cx="11018521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1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4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Arial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7D7AC4D-9491-4E01-B00E-358B03A637B8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11410467" y="6561727"/>
            <a:ext cx="645078" cy="1537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933A70-94AC-9AB9-87C4-F5766CAAC07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1" y="63502"/>
            <a:ext cx="995364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8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[Copyright &lt;Year&gt;]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20" r:id="rId1"/>
    <p:sldLayoutId id="2147484833" r:id="rId2"/>
    <p:sldLayoutId id="2147484710" r:id="rId3"/>
    <p:sldLayoutId id="2147484240" r:id="rId4"/>
    <p:sldLayoutId id="2147484736" r:id="rId5"/>
    <p:sldLayoutId id="2147484474" r:id="rId6"/>
    <p:sldLayoutId id="2147484639" r:id="rId7"/>
    <p:sldLayoutId id="2147484603" r:id="rId8"/>
    <p:sldLayoutId id="2147484919" r:id="rId9"/>
    <p:sldLayoutId id="2147484751" r:id="rId10"/>
    <p:sldLayoutId id="2147484914" r:id="rId11"/>
    <p:sldLayoutId id="2147484835" r:id="rId12"/>
    <p:sldLayoutId id="2147484836" r:id="rId13"/>
    <p:sldLayoutId id="2147484837" r:id="rId14"/>
    <p:sldLayoutId id="2147484838" r:id="rId15"/>
    <p:sldLayoutId id="2147484923" r:id="rId16"/>
    <p:sldLayoutId id="2147484925" r:id="rId17"/>
    <p:sldLayoutId id="2147484839" r:id="rId18"/>
    <p:sldLayoutId id="2147484922" r:id="rId19"/>
    <p:sldLayoutId id="2147484783" r:id="rId20"/>
    <p:sldLayoutId id="2147484784" r:id="rId21"/>
    <p:sldLayoutId id="2147484787" r:id="rId22"/>
    <p:sldLayoutId id="2147484249" r:id="rId23"/>
    <p:sldLayoutId id="2147484671" r:id="rId24"/>
    <p:sldLayoutId id="2147484585" r:id="rId25"/>
    <p:sldLayoutId id="2147484924" r:id="rId26"/>
    <p:sldLayoutId id="2147484299" r:id="rId27"/>
  </p:sldLayoutIdLst>
  <p:transition>
    <p:fade/>
  </p:transition>
  <p:hf hdr="0" dt="0"/>
  <p:txStyles>
    <p:titleStyle>
      <a:lvl1pPr algn="l" defTabSz="932789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11" marR="0" indent="-228611" algn="l" defTabSz="932789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23" marR="0" indent="-228611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58" marR="0" indent="-200035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3005" marR="0" indent="-1809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89" marR="0" indent="-1682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16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56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95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35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95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89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8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577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97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36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761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115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6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emf"/><Relationship Id="rId8" Type="http://schemas.openxmlformats.org/officeDocument/2006/relationships/image" Target="../media/image6.emf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4320" y="27432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A1A2E"/>
                </a:solidFill>
              </a:rPr>
              <a:t>仙八色鸫鸣声与图像协同监测系统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743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武汉大学</a:t>
            </a:r>
          </a:p>
          <a:p>
            <a:r>
              <a:rPr sz="1400"/>
              <a:t>电子信息学院</a:t>
            </a:r>
          </a:p>
        </p:txBody>
      </p:sp>
      <p:pic>
        <p:nvPicPr>
          <p:cNvPr id="17" name="Picture 16" descr="1.1-标准校徽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6880" y="182880"/>
            <a:ext cx="822960" cy="822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58000" y="10058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队员：XXX, XXX, XXX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1188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板端：AMD PYNQ-Z2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11887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项目简介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164592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背景：</a:t>
            </a:r>
          </a:p>
          <a:p>
            <a:r>
              <a:rPr sz="1100" b="0"/>
              <a:t>仙八色鸫是国家二级保护动物、IUCN 易危物种，野外监测需长时间蹲守。本系统在 PYNQ-Z2 上实现鸣声检测→视觉确认→自动录像全自动闭环。</a:t>
            </a:r>
          </a:p>
          <a:p>
            <a:r>
              <a:rPr sz="1100" b="0"/>
              <a:t/>
            </a:r>
          </a:p>
          <a:p>
            <a:r>
              <a:rPr sz="1100" b="1"/>
              <a:t>技术方案：</a:t>
            </a:r>
          </a:p>
          <a:p>
            <a:r>
              <a:rPr sz="1100" b="0"/>
              <a:t>1. PL 侧 I2S+AXI DMA 采集 INMP441 麦克风，32kHz 实时流不占 CPU</a:t>
            </a:r>
          </a:p>
          <a:p>
            <a:r>
              <a:rPr sz="1100" b="0"/>
              <a:t>2. PS 侧 3 层 CNN 鸟鸣检测，阈值 0.985 触发视觉端</a:t>
            </a:r>
          </a:p>
          <a:p>
            <a:r>
              <a:rPr sz="1100" b="0"/>
              <a:t>3. USB 摄像头 + YOLOv8n(NCNN) 确认目标，自动抓拍录像</a:t>
            </a:r>
          </a:p>
          <a:p>
            <a:r>
              <a:rPr sz="1100" b="0"/>
              <a:t>4. Vitis HLS 定点 GEMM 核验证 conv1 硬件加速（纯核 4.64x）</a:t>
            </a:r>
          </a:p>
          <a:p>
            <a:r>
              <a:rPr sz="1100" b="0"/>
              <a:t>5. 目标存在性录像：misses=3 后结束，存储效率提升 5-10 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11887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/>
              <a:t>系统架构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0" y="1737360"/>
            <a:ext cx="3474720" cy="1828800"/>
          </a:xfrm>
          <a:prstGeom prst="roundRect">
            <a:avLst/>
          </a:prstGeom>
          <a:solidFill>
            <a:srgbClr val="E8F0FE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/>
              <a:t>音频采集与检测模块</a:t>
            </a:r>
          </a:p>
          <a:p>
            <a:r>
              <a:rPr sz="1100" b="0"/>
              <a:t>• INMP441 I2S 数字 MEMS 麦克风</a:t>
            </a:r>
          </a:p>
          <a:p>
            <a:r>
              <a:rPr sz="1100" b="0"/>
              <a:t>• 2s 窗口 → STFT/Mel [64,201]</a:t>
            </a:r>
          </a:p>
          <a:p>
            <a:r>
              <a:rPr sz="1100" b="0"/>
              <a:t>• 3 层 CNN + Sigmoid 输出鸟鸣概率</a:t>
            </a:r>
          </a:p>
          <a:p>
            <a:r>
              <a:rPr sz="1100" b="0"/>
              <a:t>• score ≥ 0.985 写触发文件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0" y="3840480"/>
            <a:ext cx="3474720" cy="1828800"/>
          </a:xfrm>
          <a:prstGeom prst="roundRect">
            <a:avLst/>
          </a:prstGeom>
          <a:solidFill>
            <a:srgbClr val="E8F8E8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/>
              <a:t>视觉检测与录像模块</a:t>
            </a:r>
          </a:p>
          <a:p>
            <a:r>
              <a:rPr sz="1100" b="0"/>
              <a:t>• USB UVC 摄像头 640×480</a:t>
            </a:r>
          </a:p>
          <a:p>
            <a:r>
              <a:rPr sz="1100" b="0"/>
              <a:t>• YOLOv8n (NCNN) 检测，conf ≥ 0.52</a:t>
            </a:r>
          </a:p>
          <a:p>
            <a:r>
              <a:rPr sz="1100" b="0"/>
              <a:t>• 检测到目标自动抓拍 + H.264 MP4</a:t>
            </a:r>
          </a:p>
          <a:p>
            <a:r>
              <a:rPr sz="1100" b="0"/>
              <a:t>• misses=3 且 span≥6s 后结束录像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4048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实测性能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29768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• 音频事件级召回 97.4%（155 事件）</a:t>
            </a:r>
          </a:p>
          <a:p>
            <a:r>
              <a:rPr sz="1100"/>
              <a:t>• 图像独立测试召回 96.2%（266 图）</a:t>
            </a:r>
          </a:p>
          <a:p>
            <a:r>
              <a:rPr sz="1100"/>
              <a:t>• 音频窗口特异性 100%（2063 负样本）</a:t>
            </a:r>
          </a:p>
          <a:p>
            <a:r>
              <a:rPr sz="1100"/>
              <a:t>• 端到端触发延迟约 10.5s</a:t>
            </a:r>
          </a:p>
          <a:p>
            <a:r>
              <a:rPr sz="1100"/>
              <a:t>• GEMM 纯核加速 4.64x（端到端 0.59x）</a:t>
            </a:r>
          </a:p>
          <a:p>
            <a:r>
              <a:rPr sz="1100"/>
              <a:t>• 音频 overlay LUT 仅占 3.15%</a:t>
            </a:r>
          </a:p>
          <a:p>
            <a:r>
              <a:rPr sz="1100"/>
              <a:t>• 录像 37.4s / 187 帧 H.264</a:t>
            </a:r>
          </a:p>
        </p:txBody>
      </p:sp>
    </p:spTree>
    <p:extLst>
      <p:ext uri="{BB962C8B-B14F-4D97-AF65-F5344CB8AC3E}">
        <p14:creationId xmlns:p14="http://schemas.microsoft.com/office/powerpoint/2010/main" val="177706974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4320" y="27432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A1A2E"/>
                </a:solidFill>
              </a:rPr>
              <a:t>Acoustic-Visual Collaborative Monitoring for Fairy Pitta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743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Wuhan University</a:t>
            </a:r>
          </a:p>
          <a:p>
            <a:r>
              <a:rPr sz="1400"/>
              <a:t>School of Electronic Engineering</a:t>
            </a:r>
          </a:p>
        </p:txBody>
      </p:sp>
      <p:pic>
        <p:nvPicPr>
          <p:cNvPr id="17" name="Picture 16" descr="1.1-标准校徽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6880" y="182880"/>
            <a:ext cx="822960" cy="822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58000" y="10058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Team: XXX, XXX, XXX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1188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On-board: AMD PYNQ-Z2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11887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INTRODUCTION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164592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Background:</a:t>
            </a:r>
          </a:p>
          <a:p>
            <a:r>
              <a:rPr sz="1100" b="0"/>
              <a:t>Fairy Pitta is a national protected species in China. This system achieves call detection, visual confirmation, and auto recording fully on PYNQ-Z2.</a:t>
            </a:r>
          </a:p>
          <a:p>
            <a:r>
              <a:rPr sz="1100" b="0"/>
              <a:t/>
            </a:r>
          </a:p>
          <a:p>
            <a:r>
              <a:rPr sz="1100" b="1"/>
              <a:t>Approach:</a:t>
            </a:r>
          </a:p>
          <a:p>
            <a:r>
              <a:rPr sz="1100" b="0"/>
              <a:t>1. PL I2S+AXI DMA: 32kHz mic stream, zero CPU overhead</a:t>
            </a:r>
          </a:p>
          <a:p>
            <a:r>
              <a:rPr sz="1100" b="0"/>
              <a:t>2. PS 3-layer CNN bird call detection, trigger at 0.985</a:t>
            </a:r>
          </a:p>
          <a:p>
            <a:r>
              <a:rPr sz="1100" b="0"/>
              <a:t>3. USB camera + YOLOv8n(NCNN) confirmation + recording</a:t>
            </a:r>
          </a:p>
          <a:p>
            <a:r>
              <a:rPr sz="1100" b="0"/>
              <a:t>4. Vitis HLS GEMM IP for conv1 (4.64x core speedup)</a:t>
            </a:r>
          </a:p>
          <a:p>
            <a:r>
              <a:rPr sz="1100" b="0"/>
              <a:t>5. Presence-based recording: 5-10x storage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11887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/>
              <a:t>System Architecture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0" y="1737360"/>
            <a:ext cx="3474720" cy="1828800"/>
          </a:xfrm>
          <a:prstGeom prst="roundRect">
            <a:avLst/>
          </a:prstGeom>
          <a:solidFill>
            <a:srgbClr val="E8F0FE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/>
              <a:t>Audio Acquisition &amp; Detection</a:t>
            </a:r>
          </a:p>
          <a:p>
            <a:r>
              <a:rPr sz="1100" b="0"/>
              <a:t>- INMP441 I2S digital MEMS microphone</a:t>
            </a:r>
          </a:p>
          <a:p>
            <a:r>
              <a:rPr sz="1100" b="0"/>
              <a:t>- 2s window to STFT/Mel [64,201]</a:t>
            </a:r>
          </a:p>
          <a:p>
            <a:r>
              <a:rPr sz="1100" b="0"/>
              <a:t>- 3-layer CNN + Sigmoid call probability</a:t>
            </a:r>
          </a:p>
          <a:p>
            <a:r>
              <a:rPr sz="1100" b="0"/>
              <a:t>- score &gt;= 0.985 triggers visual module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0" y="3840480"/>
            <a:ext cx="3474720" cy="1828800"/>
          </a:xfrm>
          <a:prstGeom prst="roundRect">
            <a:avLst/>
          </a:prstGeom>
          <a:solidFill>
            <a:srgbClr val="E8F8E8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/>
              <a:t>Visual Detection &amp; Recording</a:t>
            </a:r>
          </a:p>
          <a:p>
            <a:r>
              <a:rPr sz="1100" b="0"/>
              <a:t>- USB UVC camera 640x480</a:t>
            </a:r>
          </a:p>
          <a:p>
            <a:r>
              <a:rPr sz="1100" b="0"/>
              <a:t>- YOLOv8n (NCNN), confidence &gt;= 0.52</a:t>
            </a:r>
          </a:p>
          <a:p>
            <a:r>
              <a:rPr sz="1100" b="0"/>
              <a:t>- Auto snapshot + H.264 MP4 on detection</a:t>
            </a:r>
          </a:p>
          <a:p>
            <a:r>
              <a:rPr sz="1100" b="0"/>
              <a:t>- Stop after 3 misses + 6s span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4048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Performance 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29768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- Audio event recall: 97.4% (155 events)</a:t>
            </a:r>
          </a:p>
          <a:p>
            <a:r>
              <a:rPr sz="1100"/>
              <a:t>- Image recall: 96.2% (266 independent images)</a:t>
            </a:r>
          </a:p>
          <a:p>
            <a:r>
              <a:rPr sz="1100"/>
              <a:t>- Audio specificity: 100% (2063 negatives)</a:t>
            </a:r>
          </a:p>
          <a:p>
            <a:r>
              <a:rPr sz="1100"/>
              <a:t>- End-to-end trigger latency: ~10.5s</a:t>
            </a:r>
          </a:p>
          <a:p>
            <a:r>
              <a:rPr sz="1100"/>
              <a:t>- GEMM core speedup: 4.64x (0.59x end-to-end)</a:t>
            </a:r>
          </a:p>
          <a:p>
            <a:r>
              <a:rPr sz="1100"/>
              <a:t>- Audio overlay LUT: only 3.15%</a:t>
            </a:r>
          </a:p>
          <a:p>
            <a:r>
              <a:rPr sz="1100"/>
              <a:t>- Recording: 37.4s / 187 frames H.264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94DDD171-3649-784B-8DFF-0523AEB0E1C6}" vid="{59C6D40F-03E9-B54A-84C3-8AA2035591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5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Props1.xml><?xml version="1.0" encoding="utf-8"?>
<ds:datastoreItem xmlns:ds="http://schemas.openxmlformats.org/officeDocument/2006/customXml" ds:itemID="{6291F803-2EF0-4E47-96D6-4796950CE6BD}">
  <ds:schemaRefs/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e4aa919a-b200-49cb-beca-4c7e0810321e"/>
    <ds:schemaRef ds:uri="http://purl.org/dc/elements/1.1/"/>
    <ds:schemaRef ds:uri="http://schemas.microsoft.com/office/2006/metadata/properties"/>
    <ds:schemaRef ds:uri="06670dda-0291-4061-b6e0-f6c0cb392c51"/>
    <ds:schemaRef ds:uri="http://schemas.microsoft.com/office/2006/documentManagement/types"/>
    <ds:schemaRef ds:uri="http://purl.org/dc/terms/"/>
    <ds:schemaRef ds:uri="http://schemas.microsoft.com/sharepoint/v3"/>
    <ds:schemaRef ds:uri="http://www.w3.org/XML/1998/namespace"/>
  </ds:schemaRefs>
</ds:datastoreItem>
</file>

<file path=customXml/itemProps5.xml><?xml version="1.0" encoding="utf-8"?>
<ds:datastoreItem xmlns:ds="http://schemas.openxmlformats.org/officeDocument/2006/customXml" ds:itemID="{43BC5722-1D5B-4915-8247-E6D5F513E549}">
  <ds:schemaRefs/>
</ds:datastoreItem>
</file>

<file path=docMetadata/LabelInfo.xml><?xml version="1.0" encoding="utf-8"?>
<clbl:labelList xmlns:clbl="http://schemas.microsoft.com/office/2020/mipLabelMetadata">
  <clbl:label id="{5bd4f1f7-d4b1-4cbd-af48-dd17bd0768d5}" enabled="1" method="Privileged" siteId="{3dd8961f-e488-4e60-8e11-a82d994e183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AMD Corporate Template_Dark</Template>
  <TotalTime>2133</TotalTime>
  <Words>454</Words>
  <Application>Microsoft Office PowerPoint</Application>
  <PresentationFormat>Widescreen</PresentationFormat>
  <Paragraphs>60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微软雅黑</vt:lpstr>
      <vt:lpstr>Aharoni</vt:lpstr>
      <vt:lpstr>Arial</vt:lpstr>
      <vt:lpstr>Calibri</vt:lpstr>
      <vt:lpstr>Consolas</vt:lpstr>
      <vt:lpstr>Segoe UI</vt:lpstr>
      <vt:lpstr>Times New Roman</vt:lpstr>
      <vt:lpstr>AMD Corporate Template_Dark</vt:lpstr>
      <vt:lpstr>INTRODUCTION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Chen, Wen (Vicky)</cp:lastModifiedBy>
  <cp:revision>25</cp:revision>
  <cp:lastPrinted>2020-04-30T18:59:47Z</cp:lastPrinted>
  <dcterms:created xsi:type="dcterms:W3CDTF">2021-04-19T14:31:00Z</dcterms:created>
  <dcterms:modified xsi:type="dcterms:W3CDTF">2026-10-28T10:03:43Z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2021-07-26T15:24:07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[Copyright &lt;Year&gt;]</vt:lpwstr>
  </property>
</Properties>
</file>