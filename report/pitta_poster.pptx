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Relationship Id="rId9" Type="http://schemas.openxmlformats.org/officeDocument/2006/relationships/image" Target="../media/image7.png"/><Relationship Id="rId10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仙八色鸫鸣声与图像协同监测系统</a:t>
            </a:r>
          </a:p>
        </p:txBody>
      </p:sp>
      <p:pic>
        <p:nvPicPr>
          <p:cNvPr id="3" name="Picture 2" descr="1.1-标准校徽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13716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8288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武汉大学</a:t>
            </a:r>
          </a:p>
          <a:p>
            <a:r>
              <a:rPr sz="1200"/>
              <a:t>电子信息学院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8686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队员：XXX, XXX, XXX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项目简介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/>
              <a:t>背景：</a:t>
            </a:r>
          </a:p>
          <a:p>
            <a:r>
              <a:rPr sz="1050" b="0"/>
              <a:t>仙八色鸫是国家二级保护动物，野外监测需长时间蹲守。本系统在 PYNQ-Z2 上实现鸣声检测→视觉确认→自动录像全自动闭环。</a:t>
            </a:r>
          </a:p>
          <a:p>
            <a:r>
              <a:rPr sz="1050" b="0"/>
              <a:t/>
            </a:r>
          </a:p>
          <a:p>
            <a:r>
              <a:rPr sz="1050" b="1"/>
              <a:t>技术方案：</a:t>
            </a:r>
          </a:p>
          <a:p>
            <a:r>
              <a:rPr sz="1050" b="0"/>
              <a:t>1. PL I2S+DMA 采集麦克风</a:t>
            </a:r>
          </a:p>
          <a:p>
            <a:r>
              <a:rPr sz="1050" b="0"/>
              <a:t>2. PS CNN 鸟鸣检测触发</a:t>
            </a:r>
          </a:p>
          <a:p>
            <a:r>
              <a:rPr sz="1050" b="0"/>
              <a:t>3. YOLOv8n 视觉确认录像</a:t>
            </a:r>
          </a:p>
          <a:p>
            <a:r>
              <a:rPr sz="1050" b="0"/>
              <a:t>4. HLS GEMM 硬件加速验证</a:t>
            </a:r>
          </a:p>
          <a:p>
            <a:r>
              <a:rPr sz="1050" b="0"/>
              <a:t>5. 存在性录像存储效率高</a:t>
            </a:r>
          </a:p>
        </p:txBody>
      </p:sp>
      <p:pic>
        <p:nvPicPr>
          <p:cNvPr id="8" name="Picture 7" descr="web_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4754880"/>
            <a:ext cx="201168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64008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仙八色鸫 (Pitta nympha)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097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系统架构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554480"/>
            <a:ext cx="384048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1565C0"/>
                </a:solidFill>
              </a:rPr>
              <a:t>PL (FPGA)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10312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INMP441
I2S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10312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I2S
接收核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10312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AXI
DMA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265176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GEMM
HLS核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383280"/>
            <a:ext cx="3840480" cy="25603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E7D32"/>
                </a:solidFill>
              </a:rPr>
              <a:t>PS (ARM Cortex-A9)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93192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STFT/Mel
特征提取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393192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鸟鸣CNN
score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93192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触发
文件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457200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USB
摄像头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457200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YOLOv8n
(NCNN)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57200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抓拍+
H.264录像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13716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69164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233172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65176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718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29183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361187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56032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288036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2004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52043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84047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16052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48055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13716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/>
              <a:t>实测性能</a:t>
            </a:r>
          </a:p>
          <a:p>
            <a:r>
              <a:rPr sz="1050" b="0"/>
              <a:t/>
            </a:r>
          </a:p>
          <a:p>
            <a:r>
              <a:rPr sz="1050" b="0"/>
              <a:t>• 音频事件召回 97.4%</a:t>
            </a:r>
          </a:p>
          <a:p>
            <a:r>
              <a:rPr sz="1050" b="0"/>
              <a:t>  (155 人耳核对事件)</a:t>
            </a:r>
          </a:p>
          <a:p>
            <a:r>
              <a:rPr sz="1050" b="0"/>
              <a:t>• 图像召回 96.2%</a:t>
            </a:r>
          </a:p>
          <a:p>
            <a:r>
              <a:rPr sz="1050" b="0"/>
              <a:t>  (266 独立测试图)</a:t>
            </a:r>
          </a:p>
          <a:p>
            <a:r>
              <a:rPr sz="1050" b="0"/>
              <a:t>• 音频特异性 100%</a:t>
            </a:r>
          </a:p>
          <a:p>
            <a:r>
              <a:rPr sz="1050" b="0"/>
              <a:t>  (2063 负样本 0 误报)</a:t>
            </a:r>
          </a:p>
          <a:p>
            <a:r>
              <a:rPr sz="1050" b="0"/>
              <a:t>• 端到端延迟 ~10.5s</a:t>
            </a:r>
          </a:p>
          <a:p>
            <a:r>
              <a:rPr sz="1050" b="0"/>
              <a:t>• GEMM 纯核加速 4.64x</a:t>
            </a:r>
          </a:p>
          <a:p>
            <a:r>
              <a:rPr sz="1050" b="0"/>
              <a:t>• 音频 overlay LUT 3.15%</a:t>
            </a:r>
          </a:p>
          <a:p>
            <a:r>
              <a:rPr sz="1050" b="0"/>
              <a:t>• 录像 37.4s H.264</a:t>
            </a: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274320" y="18288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Acoustic-Visual Monitoring for Fairy Pitta</a:t>
            </a:r>
          </a:p>
        </p:txBody>
      </p:sp>
      <p:pic>
        <p:nvPicPr>
          <p:cNvPr id="3" name="Picture 2" descr="1.1-标准校徽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13716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8288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Wuhan University</a:t>
            </a:r>
          </a:p>
          <a:p>
            <a:r>
              <a:rPr sz="1200"/>
              <a:t>School of Electronic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8686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Team: XXX, XXX, XXX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/>
              <a:t>Background:</a:t>
            </a:r>
          </a:p>
          <a:p>
            <a:r>
              <a:rPr sz="1050" b="0"/>
              <a:t>Fairy Pitta is a national protected species. This system achieves call detection, visual confirmation, and auto recording on PYNQ-Z2.</a:t>
            </a:r>
          </a:p>
          <a:p>
            <a:r>
              <a:rPr sz="1050" b="0"/>
              <a:t/>
            </a:r>
          </a:p>
          <a:p>
            <a:r>
              <a:rPr sz="1050" b="1"/>
              <a:t>Approach:</a:t>
            </a:r>
          </a:p>
          <a:p>
            <a:r>
              <a:rPr sz="1050" b="0"/>
              <a:t>1. PL I2S+DMA mic acquisition</a:t>
            </a:r>
          </a:p>
          <a:p>
            <a:r>
              <a:rPr sz="1050" b="0"/>
              <a:t>2. PS CNN bird call trigger</a:t>
            </a:r>
          </a:p>
          <a:p>
            <a:r>
              <a:rPr sz="1050" b="0"/>
              <a:t>3. YOLOv8n visual recording</a:t>
            </a:r>
          </a:p>
          <a:p>
            <a:r>
              <a:rPr sz="1050" b="0"/>
              <a:t>4. HLS GEMM acceleration</a:t>
            </a:r>
          </a:p>
          <a:p>
            <a:r>
              <a:rPr sz="1050" b="0"/>
              <a:t>5. Efficient presence-based recording</a:t>
            </a:r>
          </a:p>
        </p:txBody>
      </p:sp>
      <p:pic>
        <p:nvPicPr>
          <p:cNvPr id="8" name="Picture 7" descr="web_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4754880"/>
            <a:ext cx="201168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64008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Fairy Pitta (Pitta nympha)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097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System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554480"/>
            <a:ext cx="384048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1565C0"/>
                </a:solidFill>
              </a:rPr>
              <a:t>PL (FPGA)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10312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INMP441
I2S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10312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I2S
Receiver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10312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AXI
DMA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2651760"/>
            <a:ext cx="822960" cy="457200"/>
          </a:xfrm>
          <a:prstGeom prst="roundRect">
            <a:avLst/>
          </a:prstGeom>
          <a:solidFill>
            <a:srgbClr val="BBDBFB"/>
          </a:solidFill>
          <a:ln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GEMM
HLS 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383280"/>
            <a:ext cx="3840480" cy="25603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E7D32"/>
                </a:solidFill>
              </a:rPr>
              <a:t>PS (ARM Cortex-A9)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93192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STFT/Mel
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393192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Bird CNN
score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93192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Trigger
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457200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USB
Camera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457200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YOLOv8n
(NCNN)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572000"/>
            <a:ext cx="1005840" cy="502920"/>
          </a:xfrm>
          <a:prstGeom prst="roundRect">
            <a:avLst/>
          </a:prstGeom>
          <a:solidFill>
            <a:srgbClr val="C8E6C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/>
              <a:t>Snap +
H.264 Rec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13716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69164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233172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65176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718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29183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361187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56032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288036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2004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52043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84047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16052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480559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33"/>
                </a:solidFill>
              </a:rPr>
              <a:t>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13716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/>
              <a:t>Performance</a:t>
            </a:r>
          </a:p>
          <a:p>
            <a:r>
              <a:rPr sz="1050" b="0"/>
              <a:t/>
            </a:r>
          </a:p>
          <a:p>
            <a:r>
              <a:rPr sz="1050" b="0"/>
              <a:t>- Audio recall: 97.4%</a:t>
            </a:r>
          </a:p>
          <a:p>
            <a:r>
              <a:rPr sz="1050" b="0"/>
              <a:t>  (155 human-verified events)</a:t>
            </a:r>
          </a:p>
          <a:p>
            <a:r>
              <a:rPr sz="1050" b="0"/>
              <a:t>- Image recall: 96.2%</a:t>
            </a:r>
          </a:p>
          <a:p>
            <a:r>
              <a:rPr sz="1050" b="0"/>
              <a:t>  (266 independent images)</a:t>
            </a:r>
          </a:p>
          <a:p>
            <a:r>
              <a:rPr sz="1050" b="0"/>
              <a:t>- Audio specificity: 100%</a:t>
            </a:r>
          </a:p>
          <a:p>
            <a:r>
              <a:rPr sz="1050" b="0"/>
              <a:t>  (2063 negatives, 0 FP)</a:t>
            </a:r>
          </a:p>
          <a:p>
            <a:r>
              <a:rPr sz="1050" b="0"/>
              <a:t>- End-to-end latency: ~10.5s</a:t>
            </a:r>
          </a:p>
          <a:p>
            <a:r>
              <a:rPr sz="1050" b="0"/>
              <a:t>- GEMM core speedup: 4.64x</a:t>
            </a:r>
          </a:p>
          <a:p>
            <a:r>
              <a:rPr sz="1050" b="0"/>
              <a:t>- Audio overlay LUT: 3.15%</a:t>
            </a:r>
          </a:p>
          <a:p>
            <a:r>
              <a:rPr sz="1050" b="0"/>
              <a:t>- Recording: 37.4s H.264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